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6316a7cb344bb" /><Relationship Type="http://schemas.openxmlformats.org/officeDocument/2006/relationships/extended-properties" Target="/docProps/app.xml" Id="R783841860004425f" /><Relationship Type="http://schemas.openxmlformats.org/officeDocument/2006/relationships/officeDocument" Target="/ppt/presentation.xml" Id="Rb8e729e29b74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5cca855364766"/>
  </p:sldMasterIdLst>
  <p:notesMasterIdLst>
    <p:notesMasterId xmlns:r="http://schemas.openxmlformats.org/officeDocument/2006/relationships" r:id="Rdd1602fa1b634ba4"/>
  </p:notesMasterIdLst>
  <p:sldIdLst>
    <p:sldId xmlns:r="http://schemas.openxmlformats.org/officeDocument/2006/relationships" id="256" r:id="R3ec7cba225b546f1"/>
    <p:sldId xmlns:r="http://schemas.openxmlformats.org/officeDocument/2006/relationships" id="257" r:id="R9c31626d69da4a96"/>
    <p:sldId xmlns:r="http://schemas.openxmlformats.org/officeDocument/2006/relationships" id="258" r:id="R7c5255fcb8d64e7a"/>
    <p:sldId xmlns:r="http://schemas.openxmlformats.org/officeDocument/2006/relationships" id="259" r:id="R2a78256a88984a3a"/>
    <p:sldId xmlns:r="http://schemas.openxmlformats.org/officeDocument/2006/relationships" id="260" r:id="Rde1996a81b3d42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7a4200afe4ff5" /><Relationship Type="http://schemas.openxmlformats.org/officeDocument/2006/relationships/slideMaster" Target="/ppt/slideMasters/slideMaster1.xml" Id="R9655cca855364766" /><Relationship Type="http://schemas.openxmlformats.org/officeDocument/2006/relationships/notesMaster" Target="/ppt/notesMasters/notesMaster1.xml" Id="Rdd1602fa1b634ba4" /><Relationship Type="http://schemas.openxmlformats.org/officeDocument/2006/relationships/presProps" Target="/ppt/presProps.xml" Id="Re723ea617be0494c" /><Relationship Type="http://schemas.openxmlformats.org/officeDocument/2006/relationships/tableStyles" Target="/ppt/tableStyles.xml" Id="R72bb685b472c47e4" /><Relationship Type="http://schemas.openxmlformats.org/officeDocument/2006/relationships/slide" Target="/ppt/slides/slide1.xml" Id="R3ec7cba225b546f1" /><Relationship Type="http://schemas.openxmlformats.org/officeDocument/2006/relationships/slide" Target="/ppt/slides/slide2.xml" Id="R9c31626d69da4a96" /><Relationship Type="http://schemas.openxmlformats.org/officeDocument/2006/relationships/slide" Target="/ppt/slides/slide3.xml" Id="R7c5255fcb8d64e7a" /><Relationship Type="http://schemas.openxmlformats.org/officeDocument/2006/relationships/slide" Target="/ppt/slides/slide4.xml" Id="R2a78256a88984a3a" /><Relationship Type="http://schemas.openxmlformats.org/officeDocument/2006/relationships/slide" Target="/ppt/slides/slide5.xml" Id="Rde1996a81b3d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204f4e576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f4d09bcf241da" /><Relationship Type="http://schemas.openxmlformats.org/officeDocument/2006/relationships/notesMaster" Target="/ppt/notesMasters/notesMaster1.xml" Id="R682ef5e78ad2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bff39c05a4ecb" /><Relationship Type="http://schemas.openxmlformats.org/officeDocument/2006/relationships/notesMaster" Target="/ppt/notesMasters/notesMaster1.xml" Id="R0dc614c5efca49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2f887dc1c4c83" /><Relationship Type="http://schemas.openxmlformats.org/officeDocument/2006/relationships/notesMaster" Target="/ppt/notesMasters/notesMaster1.xml" Id="R1911764b6fdd42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0c5f5eec404400" /><Relationship Type="http://schemas.openxmlformats.org/officeDocument/2006/relationships/notesMaster" Target="/ppt/notesMasters/notesMaster1.xml" Id="R71fa7a56a4624c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b6d0ffd2b488d" /><Relationship Type="http://schemas.openxmlformats.org/officeDocument/2006/relationships/notesMaster" Target="/ppt/notesMasters/notesMaster1.xml" Id="Rc59f6403050e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apoyo para explicar qué se está construyendo en la Fase 1 del TFM.</a:t>
            </a:r>
          </a:p>
          <a:p xmlns:a="http://schemas.openxmlformats.org/drawingml/2006/main">
            <a:r>
              <a:t>La idea central: todos los datos pasan a compartir una misma referencia espacial de celdas de 1 km.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 local: src/geospatial/grid.py y src/geospatial/pipeline.py.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pipeline de izquierda a derecha. La malla de 1 km no es un resultado final: es la estructura que hace compatibles todas las capas.</a:t>
            </a:r>
          </a:p>
          <a:p xmlns:a="http://schemas.openxmlformats.org/drawingml/2006/main">
            <a:r>
              <a:t>La prueba actual cubre especialmente el segundo y el tercer bloque: grid y topografía.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Iberfire.pdf proporcionado por el usuario: la metodología trabaja con una rejilla espacial regular y variables explicativas por celda.</a:t>
            </a:r>
          </a:p>
          <a:p xmlns:a="http://schemas.openxmlformats.org/drawingml/2006/main">
            <a:r>
              <a:t>- Código local: src/geospatial/pipeline.py.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el cambio de arquitectura más importante. Antes el resultado era una colección de polígonos; ahora es un array rectangular de posiciones x/y con una máscara.</a:t>
            </a:r>
          </a:p>
          <a:p xmlns:a="http://schemas.openxmlformats.org/drawingml/2006/main">
            <a:r>
              <a:t>Las celdas fuera de Galicia siguen existiendo en el cubo, pero no se procesan en las capas temáticas.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 local: src/geospatial/grid.py (is_galicia, coordenadas regularizadas y exportación del grid).</a:t>
            </a:r>
          </a:p>
          <a:p xmlns:a="http://schemas.openxmlformats.org/drawingml/2006/main">
            <a:r>
              <a:t>- Iberfire.pdf proporcionado por el usuario: malla rectangular de 1 km en una proyección europea de referencia.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fila del cubo ya no contiene una orientación media poco interpretable; contiene proporciones de ocho franjas de 45 grados y una categoría sin datos.</a:t>
            </a:r>
          </a:p>
          <a:p xmlns:a="http://schemas.openxmlformats.org/drawingml/2006/main">
            <a:r>
              <a:t>Esto conserva la información direccional y permite al modelo aprender relaciones no lineales.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Iberfire.pdf proporcionado por el usuario: quince variables topográficas (estadísticos de elevación, pendiente y rugosidad; ocho clases de orientación y NODATA).</a:t>
            </a:r>
          </a:p>
          <a:p xmlns:a="http://schemas.openxmlformats.org/drawingml/2006/main">
            <a:r>
              <a:t>- Código local: src/geospatial/topography.py (GLO-30, agregación por cell_id y ventana 3×3 para rugosidad).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prueba se ejecutó realmente y se validó que las proporciones de orientación cierran aproximadamente a uno. El error mostrado es puramente numérico de coma flotante.</a:t>
            </a:r>
          </a:p>
          <a:p xmlns:a="http://schemas.openxmlformats.org/drawingml/2006/main">
            <a:r>
              <a:t>Los próximos pasos usan la misma malla: primero cobertura del suelo y luego variables temporales.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 local: data/processed/topography_test.nc; dimensiones y=225, x=203.</a:t>
            </a:r>
          </a:p>
          <a:p xmlns:a="http://schemas.openxmlformats.org/drawingml/2006/main">
            <a:r>
              <a:t>- Validación local de proporciones de orientación: error máximo 1.788e-7.</a:t>
            </a:r>
          </a:p>
          <a:p xmlns:a="http://schemas.openxmlformats.org/drawingml/2006/main">
            <a:r>
              <a:t>- Código local: tests/test_topography.py y notebooks/prueba_topografia.ipynb.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ec88766ab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f766f1ee44e9b" /><Relationship Type="http://schemas.openxmlformats.org/officeDocument/2006/relationships/slideLayout" Target="/ppt/slideLayouts/slideLayout1.xml" Id="R4e7d25776f524f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d25776f524f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df40656324f40" /><Relationship Type="http://schemas.openxmlformats.org/officeDocument/2006/relationships/notesSlide" Target="/ppt/notesSlides/notesSlide1.xml" Id="R880c18c75cf3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2020a3aab43bc" /><Relationship Type="http://schemas.openxmlformats.org/officeDocument/2006/relationships/notesSlide" Target="/ppt/notesSlides/notesSlide2.xml" Id="R61806b630e6446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b93f674e74735" /><Relationship Type="http://schemas.openxmlformats.org/officeDocument/2006/relationships/notesSlide" Target="/ppt/notesSlides/notesSlide3.xml" Id="Ra8ed2642004e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a0f2a51304d14" /><Relationship Type="http://schemas.openxmlformats.org/officeDocument/2006/relationships/notesSlide" Target="/ppt/notesSlides/notesSlide4.xml" Id="R51c3127951a145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2f310f57f41c1" /><Relationship Type="http://schemas.openxmlformats.org/officeDocument/2006/relationships/notesSlide" Target="/ppt/notesSlides/notesSlide5.xml" Id="Rab6eab0ebaa444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6BEBBC-1473-47EF-AE1E-1BAB527D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3D5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3D5E7"/>
                </a:solidFill>
                <a:latin typeface="Aptos"/>
                <a:ea typeface="Aptos"/>
                <a:cs typeface="Aptos"/>
              </a:rPr>
              <a:t>TFM · SISTEMA DE DETECCIÓN DE INCENDIOS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20AFF-E1AC-4FFE-8EFF-7284972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6682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 grid vectorial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datacube espacial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E4D5-BEDC-44EC-AA9C-93C9DD6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6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6E5"/>
                </a:solidFill>
                <a:latin typeface="Aptos"/>
                <a:ea typeface="Aptos"/>
                <a:cs typeface="Aptos"/>
              </a:rPr>
              <a:t>Una infraestructura común de 1 km para integrar topografía, cobertura del suelo, meteorología e incendios.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D8EF6-8B77-4058-982A-D56BB75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D5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3D5E7"/>
                </a:solidFill>
                <a:latin typeface="Aptos"/>
                <a:ea typeface="Aptos"/>
                <a:cs typeface="Aptos"/>
              </a:rPr>
              <a:t>Galicia · EPSG:3035 · NetCDF + GeoPackage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ED505-9175-4C26-9EE6-1B2A63A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42950"/>
            <a:ext cx="4000500" cy="51816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324D"/>
          </a:solidFill>
          <a:ln xmlns:a="http://schemas.openxmlformats.org/drawingml/2006/main" w="9525">
            <a:solidFill>
              <a:srgbClr val="3154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97071-BA4D-4AA5-B15D-5C1501F8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CE79D-BC8D-439F-A7B0-4BC4A1D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FF0C4-A3C2-416C-8875-849A49B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873B9-7535-4AFD-81FE-3CE410C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420D3-EE51-4F57-B01A-364F2279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ED3DA-7BB7-4DD3-9DF1-60D5584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4379-9768-4B14-A2F3-0A38EED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6F0D1-B76A-4552-B6DC-D0332C7C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09782-AA0C-42D5-BD7F-DD8CC166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C6CE6-18EB-4D50-B0EA-B9BB3A4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2858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84E6B-65DB-4BD9-999A-0CB49692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D58E8-303C-4D34-8B47-16B2A6A4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B5098-6182-4E21-B541-8DE9B64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5AA7D-5937-4154-9076-BD77F29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C952D-5BED-4EF8-831A-C73BC5B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8D85A-2410-4439-84D8-6ADA6F18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0173D-F0EE-4D2C-9417-55883A09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7DA1B-9ABA-4C22-B381-D18F6D6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A025D-FEAD-4B56-9DB5-9BB8FFF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68F3E-7FF4-45E6-956A-5C7A63F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5811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CC3E5-7DE6-4E9A-B642-78CF126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D7D6B-3596-436A-AD1C-9797CE3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F4499-DB4C-4284-9351-136BC3A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19B14-86ED-4C50-AE2E-97358F8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CA871C-F72E-4993-A1B1-32D2C81C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20BBE-3911-4D23-BF7A-61F4050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21FFF0-E253-4BA2-8889-95FD8FF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96719-7E68-4735-A5A8-874F4730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8721CC-8BAF-49CA-8F47-EF979BF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681B20-AFA2-42C4-9758-A598E3F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764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08D2DE-D0C0-43CE-B337-9BBF062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372A43-4246-4F4D-8C56-143FD50F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1F48A4-5B50-4F33-8B38-28A3D0D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635F14-91F5-482F-AA28-C2B8163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133CE1-B4DC-44D2-A137-1CC33AE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DA8E5-32B7-46CE-AEEA-31D98C6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4EB3BF-51F6-4BB9-9468-DFD20A6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57FDEA-EDE4-4D4E-A8D8-16355D73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606818-90F3-47DC-AFCC-23009DE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E4C52-666E-43C3-A054-7298981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717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3389C6-3947-421D-A8C0-D14E9F2D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A1155-3C67-4EB9-BD26-17AD4C9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FC84E1-637F-403D-804E-F0F4F5F2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354C79-099F-4E39-AA70-5BF837E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C4068B-D4B0-4F5E-A643-74DF026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82DD08-1760-44D1-A90A-2D63BFD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5156D2-012E-4C2A-95EC-0354898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CD6DC6-4378-4FF1-99DF-3FC1E30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1D4AB1-434A-448E-9B83-0443742E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87D0B1-90EE-4A7F-9DC7-3059F70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669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53942E-5071-41D0-B0F1-A66D4D4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D3257-AAB2-40B6-89D7-4D184A7A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69AB30-D04D-4340-ABEE-0AC1342E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B3808E-319F-487F-ADB5-F718E9E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019B88-26EE-4F06-BDF6-527FBF62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9B0EE3-09D8-4F9C-995F-9A01067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5BA8E3-8D60-4A0D-9BDF-F691B60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0348CF-BF20-43A0-AD27-99E5D73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874B76-A467-4B0B-9681-B3E0050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4F1C07-E398-4B96-8022-822A780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622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24EAAC-64C2-43BB-9510-3341D63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4588DC-C011-4B1F-9DFE-D0AE466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4109BB-01B7-4512-810C-1C3C05D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052BAD-887E-4E32-B8BB-EEB73B5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2CD87B-2EEC-4E47-AEF5-EDF0A0A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91CD57-AF96-4137-849F-BF17300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99B1CD-BA9D-47DE-8764-C81EAB9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8741B6-4749-4140-B639-93BF551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4CA391-D345-447E-8D8E-DE84BD6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CCD2AF-78E7-4875-AC42-805BEDD2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575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9FE217-3D0E-4401-8E1C-7537CC2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86E220-C110-4FA1-B2F9-F022143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DDBE32-62D7-4A07-A6FE-47983A63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2C9429-FCD0-48A9-84E2-D97647E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65EF50-F85C-4523-B3AC-E1525613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80AECB-BC53-4FF2-A65A-3694EED8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A00ADC-97D6-4389-8CEA-967C1D00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35CCD7-7B83-4B0A-9A7F-6FE3C0C1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963899-BBFA-4952-B2E4-C36C0306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5DF1D7-FF14-4053-9D55-B21E1870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528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A82034-F308-4BCB-9D0F-8AB7ABAD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5BC686-2849-4F60-A95A-FF97A06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AC2836-AFEF-437A-B810-63F0B5A0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4EFBDA-FE63-4DD8-8819-2C970ED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24D0BD-D18D-4452-842E-2E27489E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4E70C8-8F96-4FDF-B15C-16A50AAF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5A9C9E-6EDC-4B2F-9E3D-8D800021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58DD64-998F-4E56-AEB8-70895BB1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CB6E62-B059-4524-A7A9-F74B969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C5AE3F-4CF6-4AA8-B124-762D8DF1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64807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139BB2-175A-45FB-BB04-97CBACD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145C2D-5934-46D7-970E-B5E641A0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2B0A69A-2469-46BF-9C0E-58850FE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F63F43-25EC-4F96-B099-E9A43762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699966-DC0E-48AE-BEF7-3EC497AE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484106-CFDC-4E3F-9703-91B8B47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3D77168-5BAA-4F24-A219-FE6A9F9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B0C7694-BFC6-4244-B69D-C3EFA51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058283-F0E9-49F3-AEB1-0D88E823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A06A26-4143-4AE4-8BD1-3303D6F9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94335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B5336FD-8115-45F6-98F5-CE42CE0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92AC65F-153E-4B01-A18C-F39160A5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CEBB8E-8270-4C27-9413-983439E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20E911-9C80-4AF0-8D97-C7F24F34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55377E-67CE-4EDE-8EB0-CE4CDD21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A802285-57F7-4848-B89C-E930F29D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2648CB-789D-4D08-ABAC-5478B39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8D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678ADD-8417-4FA4-AAB9-292CFA3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B6AF12-E7F2-4238-8BCD-6ECC6BD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8B4EF0-0E9E-42AB-B6B5-3CB4A15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38625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216576-7ACE-418A-89C4-DD70459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A2078A-30C4-4D84-8D35-F221391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FC6A36-C51D-4A2F-A094-AB46188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737A8F-7073-43E4-9D82-11B196D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329C38C-D830-449D-B080-88B591B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8E0FA3-4DB9-48A8-88A2-D428489E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0017A9A-92AE-41C6-B9A8-DFA167F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75589D5-339F-4220-B200-61784279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F97FA5-AD21-4536-AC3F-AE393A7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9E00A12-D199-4E2B-82E4-E4E19506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533900"/>
            <a:ext cx="283845" cy="283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66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0B142B3-79E4-487C-A70D-CD6ED8CB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rejilla rectangular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DA1A54D-7825-45EA-9A57-724D18C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DF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DFEB"/>
                </a:solidFill>
                <a:latin typeface="Aptos"/>
                <a:ea typeface="Aptos"/>
                <a:cs typeface="Aptos"/>
              </a:rPr>
              <a:t>is_galicia = 1</a:t>
            </a:r>
          </a:p>
        </p:txBody>
      </p:sp>
    </p:spTree>
    <p:extLst>
      <p:ext uri="{BB962C8B-B14F-4D97-AF65-F5344CB8AC3E}">
        <p14:creationId xmlns:p14="http://schemas.microsoft.com/office/powerpoint/2010/main" val="1799282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64501B-545A-46FC-98E2-EB88004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LA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C9D7F-06D8-4D2C-8F14-DD20C894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 pipeline que transforma fuentes heterogéneas en un único cubo espacial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52450" y="1257300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0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CECA-40EF-4554-B806-9BFFC6D9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TFM · Predicción de incendios forestales · 2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305050" y="33147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73B7F-7824-409E-B077-17427F52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476750" y="33147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40D2F-EE5D-4075-BD65-095E23F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480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6648450" y="33147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1AF20-AACA-4A3F-BD09-88094F9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480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820150" y="33147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42B35-9B25-4F92-9AAD-F8CD2441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C7085-EA3A-4F41-9FBD-461D616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5049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220A9-04CF-40A8-BBA1-C914C2AC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Límite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A385D-76C1-449F-AB85-1EA9813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Galicia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FB41C-EB72-40A8-9AE4-3CA555B2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1867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AA0AA-A502-47AF-BA50-D1A1E12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5049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6C959-D6C2-4ABE-8DAA-1AD3557B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Grid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E727F-16AB-4E9E-832C-2871593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 km · EPSG:3035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A0457-4933-4020-BCFC-E995A42B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6668">
            <a:solidFill>
              <a:srgbClr val="26A2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2DC5E-27B6-446D-A778-D0BAC72F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15049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9BB45-44AB-4E50-A0D3-9494B4D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9D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9D38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2686A-1381-46EB-849A-F06D9263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topo · cobertura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DE690-8FDC-4E94-A686-B2797D3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D38"/>
          </a:solidFill>
          <a:ln xmlns:a="http://schemas.openxmlformats.org/drawingml/2006/main" w="6668">
            <a:solidFill>
              <a:srgbClr val="F29D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2B9A4-08BD-44A6-AA5E-F90F84C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15049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F0E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543DB-0FA5-4AFD-B51D-08BE4D9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57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57C5"/>
                </a:solidFill>
                <a:latin typeface="Aptos"/>
                <a:ea typeface="Aptos"/>
                <a:cs typeface="Aptos"/>
              </a:rPr>
              <a:t>Cubo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F1E6D-CCAF-4C79-A3E0-09A8F51E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x · y · tiempo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CA2D6-EF5D-4E62-AE45-B9689BA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C5"/>
          </a:solidFill>
          <a:ln xmlns:a="http://schemas.openxmlformats.org/drawingml/2006/main" w="6668">
            <a:solidFill>
              <a:srgbClr val="7157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27254-9ABF-4C1C-8562-EAF3FD8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5049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CE326-860E-4675-9179-1B1859C0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765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65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656"/>
                </a:solidFill>
                <a:latin typeface="Aptos"/>
                <a:ea typeface="Aptos"/>
                <a:cs typeface="Aptos"/>
              </a:rPr>
              <a:t>Riesgo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95AFFB-D6E9-4F8C-9E57-7444E7F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mapa diario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49DD0-8F85-46A6-B4F4-7FDDA638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656"/>
          </a:solidFill>
          <a:ln xmlns:a="http://schemas.openxmlformats.org/drawingml/2006/main" w="6668">
            <a:solidFill>
              <a:srgbClr val="D956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A9179-C853-4ECC-8063-7923365C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2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 malla es el contrato espacial: permite que cada fuente se agregue, valide y compare sobre exactamente las mismas celdas.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765199-99F8-4B35-90A5-5C68795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57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Ahora estamos aquí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5905500" y="47815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A26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80112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135BAFF-88C2-43DD-A8C9-5675298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CAMBIO CLAVE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2BA4C-DBF7-40B3-B3C2-D4A86E9A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malla pasa de ser un recorte vectorial a un datacube rectangular</a:t>
            </a:r>
          </a:p>
        </p:txBody>
      </p:sp>
      <p:cxnSp>
        <p:nvCxnSpPr>
          <p:cNvPr id="186" name=""/>
          <p:cNvCxnSpPr/>
          <p:nvPr/>
        </p:nvCxnSpPr>
        <p:spPr>
          <a:xfrm xmlns:a="http://schemas.openxmlformats.org/drawingml/2006/main">
            <a:off x="552450" y="1257300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0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2E9D6-9773-4A49-936D-07DB6BC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TFM · Predicción de incendios forestales ·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1DCBE-8D2A-499C-8C89-D7620B7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6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656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E12C-92CC-479B-8627-014294C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Celdas filtradas por el límite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E241E-81EE-428F-9494-8D57F15A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095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7E04A-076B-475F-B0FF-253BB939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A5304-6912-4571-8446-26999735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762EB-8B7C-40C8-BF5B-358783D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37A13-78BA-43F4-897A-4F1ACCD6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8F015-ECDE-40B0-AB21-BDAAD1D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11AEC-5DE9-45EE-8502-FD03118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C73F2-7B82-4D90-A014-84FE292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2B390-6E55-4E52-8E8E-AA89D473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8C480-36A3-4D7D-B4FE-C28A1E2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0C8C3-EB21-4E08-8B51-905D1BA8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68BBA-18BD-4481-89B4-D240805B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C54F9-D271-4EAF-BE50-E43B579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A48F7-69DC-432A-AF9C-90C96B6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32A7C-4B53-45D8-9704-5360FBF9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3BEFB-FC9A-4A85-9E0F-BCA95BAA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D32AC-9A9F-4A0E-93B9-CF69840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F33DE-31D8-4D85-B917-9085F4D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B69B3-4BA8-4529-875A-CFFEEA2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59045-ABD2-4D49-8529-E1900E3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11734-C4F9-4E51-B790-D6D293E4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2DE1A-B35E-4E2F-9650-C3FB7FF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9581A-81CA-4B11-9495-8EBF65E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A3BBE-7AFE-40C0-9AB1-C041587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073A3-4AF7-4917-AF92-D8AAF401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408D10-3B89-4E97-83F1-99FCCEB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CDDBD-8D57-44C6-BDE7-F8572A2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3BAFA-A54C-450B-AFD9-50BE22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81A36E-0611-492A-BB65-219F639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41BD1-9805-4FCC-8AA8-E0428DE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0F41E2-2E0F-4B9F-ACDB-9F582FA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6FA05F-F471-4578-B311-F9B79011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1754D6-384D-41DA-810C-C2F84403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42D0AD-8C9D-4D23-A177-9510F23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CAA1C-D77B-4D96-8EE0-279A57F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645F8-AAFD-42B5-8B09-29BE86B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847526-E29B-4BFC-8714-863B0A28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0D129B-122C-49E3-86F1-6EDF8150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30695B-998E-4DEB-B1C7-99363729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4F7E68-A295-4921-99BE-9434FC73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CE631D-184A-4148-87BA-0191F4F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CE401-C5C7-45FB-AEA3-11FA2711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4DB19-611F-4460-81F3-F14A542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37E401-5E22-44D0-B96D-C1AFF30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6B76B8-11F2-4ED7-827D-27925C1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6333D0-6DB9-4006-9D6E-272D35B1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55024D-B528-4E84-99AB-2D11161B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D5F4E2-4481-40C2-8626-93280077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CB7230-2F2A-4A2B-9652-055A4356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380F53-A597-41FE-A90B-BAADE407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FA558B-6CFB-4B77-B261-179F7F72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A92955-8A35-4833-843A-670DBF7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53147C-85B0-4683-AC89-3C444C9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AFA203-4EB9-41F4-97E4-E243BB0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E44986-4984-4A60-BEE2-1F2A759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F0AC0A-23BD-4896-9E2F-F955E1BE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441E9E-0DA2-465F-A278-AB0D541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4112E4-5748-4F4E-9574-A461BC8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B4B882-EB23-4FBE-83B4-D38BB84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0B365E-C4BC-4E95-A858-D4D0EF4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DD8AFF-6EAC-49A7-8DA7-FFA6AFC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94802F-5E37-4531-86C6-8F860F9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5E2BED-EBF6-4D02-BEC7-9CE528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BBEE31E-74AF-42AD-A36E-3599AA1B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E6CC0C-D89F-4F56-837E-7513EB4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036F80-F573-42B0-BF95-2294A3B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AE5D13-BCDB-49FE-A0D3-14CE59C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AFE67F-B32B-4B91-A7D5-7944120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FF7B4A-E24F-4BB7-A71F-01CF2DD7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09AB62-13DC-4464-8097-193FDEC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F1BBB6-F189-4E56-86B9-33C6BB0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AD954E-B78B-4FF1-BCD9-1830739B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05BB0F-0B89-4C75-BE20-757E630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2D93A7-C21F-476A-82A2-F5B2CAA8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B1E9CC-5C8C-4B62-BF2B-61CBC69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70F3F6-C257-4706-B424-011D36D6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A23626-03F5-41F1-AFEB-299A50F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13DFBE-9209-4B5A-A4DD-7D78DC54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D9E412-B970-4500-8B35-B07E9BE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16D075-6B9B-465D-A0B8-635A61E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EE0280-2D61-4C43-B60F-D0C73D5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0BAAC4-6C9A-4CF3-B448-9B06907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984ACE-5774-4E04-BEF0-D1B0A6D9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B209DE-0545-4D3B-959D-E042F74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C58E4C-D4B0-4978-AA64-A9A8C90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C5096F-7BE9-4313-884D-4B12FA5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Solo sobreviven las celdas dentro de Galicia</a:t>
            </a:r>
          </a:p>
        </p:txBody>
      </p:sp>
      <p:cxnSp>
        <p:nvCxnSpPr>
          <p:cNvPr id="276" name=""/>
          <p:cNvCxnSpPr/>
          <p:nvPr/>
        </p:nvCxnSpPr>
        <p:spPr>
          <a:xfrm xmlns:a="http://schemas.openxmlformats.org/drawingml/2006/main">
            <a:off x="5219700" y="3838575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55A7BC-C19D-4058-BB91-9AE119DA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FBE567-D6CF-4DD9-86DB-AAC7AB4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AHORA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6CB040-8988-466E-9630-4F23562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Rectángulo completo + máscara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8883DB4-FD20-4DD3-AB5D-897CCFCE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095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463E6C-3C58-4EA4-AE72-8FEEFE34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37D9ECB-C1F2-48EF-8362-F387EC88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1637ED-F1FD-42F0-8F94-046F9A5F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BAA9AF-D359-40C3-9AC2-AE4095E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2608AD-2922-4074-864D-251BCDC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7E1D66-7277-426E-A4E0-DA7DFA1A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14026C-874B-4039-9A10-25B545B4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EC51DB-60B0-4619-81F3-A77757E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64211EF-D9D6-4655-9ED8-EE0D56B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5CF37A-C7FC-4B57-9126-BC5613D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18B267-D06F-4CD6-9D26-1CB943F2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A0C905-D788-410F-BA1F-F6648C56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9051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400ED77-85AF-4E75-A5D8-23267273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6AC0E4A-3BB3-4833-BDC9-476D19E0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B8170EE-2251-47CC-9258-727F7089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2E84D92-FE12-44B3-9DFD-80453458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0A7C08E-CEAB-449D-9D12-64AA531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253B86-1C5F-414E-9D07-F1748B2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3015E8D-6BB9-47A8-B0A3-1AF315C7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981EAAC-15FC-492D-A898-71CFBD6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8E37794-BDB2-4203-ACFD-CC38DD0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EBEF2C9-D221-426E-8CA4-D3BB193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0A3285A-7B6F-45B3-9808-02035EE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009A3D5-731B-47FF-81AA-F7B246B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1718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416AA1-E5DE-432C-8B35-C456709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AB6CC94-17F9-4281-847C-A56038A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8FBF0A8-6B31-464C-9970-9B506DE7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A8A88E-7A52-41E1-91F4-805F8FCC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C0B9FA9-84B4-4483-B5FA-F0A8B184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F88E76F-B06E-481D-B5E0-EC49E9AC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84A8FB1-0D3B-4790-B487-EA92C455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760CBA0-3AF2-4ACC-8EA8-574E97F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99BD871-368E-490A-8703-953EB93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54C6D8A-BFEC-473C-9618-2044C870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4678BA1-51D5-4E7F-8EF6-4887180A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18B4841-F2D8-42B6-8BE4-DE802242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4385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7E16E0F-25BA-4A15-ADA5-CEDBAA1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0F3DD13-0D28-493D-B474-03E6C8F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EDF573A-36FA-49AD-BA3B-E06B5B0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F95F64F-2240-47BC-BF73-7572967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5316E6A-42C2-46A9-B393-67387481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286394-D4FE-4580-BD0A-157196E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18BA61-6B75-4AB0-B368-4C5D9DB5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25FFDCA-E2D0-420C-952A-A5853D76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3A62CA4-1BCA-4997-8A51-D3FE2A6F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21236A6-D0B5-4BAD-BC05-2E65D9CB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838B8AD-137D-40F5-B3B0-E3802C0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25D940F-C29B-4B32-9628-EC938B98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052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0F294F8-D0BC-4077-A665-2CB9B8A9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AF010CF-4B67-4ADF-B475-1A3653E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93A2733-1517-45F5-96B6-E34850E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09539D2-41F9-4D3F-AF12-C92EE13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D7AE5EF-9007-443B-8E51-876FCEF9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ECCEA5E-6525-4CF5-978B-FD54BCF4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5B05B99-C888-4609-BDC9-A18C45DC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1DC92CB-1BBD-4680-B2B3-0864E2D4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7DE8C17-8F22-4059-901C-5AE53C2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FDCB3D4-6517-4F58-AA34-C15FA65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E3DD0F9-7A15-4A2F-91C8-840CFA45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323CE83-073E-4007-BBBA-5B75A37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9719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66C5B3A-02CF-4915-AE62-DDF227C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8A8E00-0355-4F02-8B45-E9DACCC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2841DCD-D29A-48E3-A45D-2602A71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C8F2FC9-C657-452F-99D4-3243CEC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CE18651-9E84-424E-A507-47F217A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FDFA8B1-33D2-43F2-8D4C-E782E6DF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4629C1A-8C29-4A14-8D78-2811E65F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1E54628-FD4C-4E5C-B436-284EC762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6DFA2BA-D400-422E-9DB5-DFE7258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0D6F5BA-7F74-4CF3-854A-3CBB45B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250783D-F85C-4BBD-93C9-9A8F376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81EA913-2211-4087-923C-5998FD5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386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30EB790-DE49-4F08-9878-B099E46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4E09926-4D9C-43F2-9165-91DDF2A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990A527-4303-43BB-8A37-F722343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9DD43E1-3756-40D2-B0C9-86A4ADE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6411532-0B56-470E-ADDD-0F657BB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F64AB72-F560-48BD-A5EE-3E6FF87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F0FBA40-D730-44AC-944D-B7BE45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0E6E595-F274-43C0-87D3-110FC65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99DD9C5-8AA7-4D4D-9E23-15ED2E64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FA43FB2-3C1C-4DD3-B656-A949D5E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7D83B07-DE44-4AC4-9265-9D73630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CFB804E-70BE-4BBF-8FA8-BC30828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505325"/>
            <a:ext cx="25527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D7227C8-676C-4235-BACE-6D036D00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90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Todas las posiciones x/y existen; is_galicia indica las activas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3C652AC-E31D-4860-ABD6-14827C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Ventaja: datos ordenados, arrays consistentes y posibilidad de añadir dimensión temporal sin deformar la malla.</a:t>
            </a:r>
          </a:p>
        </p:txBody>
      </p:sp>
    </p:spTree>
    <p:extLst>
      <p:ext uri="{BB962C8B-B14F-4D97-AF65-F5344CB8AC3E}">
        <p14:creationId xmlns:p14="http://schemas.microsoft.com/office/powerpoint/2010/main" val="1984219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2AB717-AD48-434D-B766-86596296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CAMBIO CLAVE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45FA6-F2A5-478B-8BA8-DA81C11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topografía deja de ser una capa visual: se convierte en 15 variables por celda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552450" y="1257300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0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21B16-F1FC-45B6-81B6-79A9589E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TFM · Predicción de incendios forestales · 4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2905125" y="33813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D2A7C-5B72-417D-B3C6-44DC9B1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838950" y="33813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A7C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5144E-E136-4022-A747-248BBC5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1470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0">
            <a:solidFill>
              <a:srgbClr val="12A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1B4F5-C461-43B1-B3B3-5E4EC997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2669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24183-C0D3-457D-8C06-623DA44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47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DEM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06103-C066-4E98-9245-9B7BDC23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62300"/>
            <a:ext cx="1666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Copernicus GLO-30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resolución ~30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34CCB-5F76-4271-8252-EF7E5EFB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9E7EC-60E5-460D-A7BC-4DB325A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2D3A9-6B69-432A-B31F-F5DEE0A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F0097-2CEE-4FCF-9D23-21FC6714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75B21-7286-48F1-A831-CC71D75C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D07D8-C1D0-4217-801B-585908C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07E6-0035-42B4-A782-66B4E3F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576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E4EB1-BA38-45DD-A7A0-FD44FF83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A2BDA-98AA-4FEB-BC04-9A39195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A370A-D0E7-4AA8-A547-1622469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61F89-7151-4F8C-9FA0-13C7875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E9779-B1C5-4318-84ED-E44060B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4A974-C7B3-485C-B866-F5E3C301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1401B-2464-4BAF-BF79-DA5DAA7F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2907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BA4C2-A286-44EE-96F1-AB964CD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ACE35-4103-48B5-AA21-D3243716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0F1740-E2A3-4D99-BA6D-C7C20A4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3CD21-6C1C-4844-BECA-151C30D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96742-7DC7-446E-BD9C-0EDE14E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8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32998-BC0B-44DC-90F8-0BD35FFC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08E7DB-AE7F-41CC-91BB-FA740A0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20052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9DBEB-E90F-42E2-8B06-84E26592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27336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4536F1-FB6D-4546-AA1A-62EF1EBC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Agregación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D9407-631D-429E-A308-C0CDCCA4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23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Cada celda de 1 km resume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los píxeles del DEM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EF7340-D0C4-47DE-992F-66AD6B9F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71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media · desviación · proporción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0B740-5D44-4D15-A1AE-56E6382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62150"/>
            <a:ext cx="338137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8F5EEF-CC82-4E36-9D75-A210B34F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15 variables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3EF431-9AC7-4F2D-B967-4A06B336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6 numéricas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67EFAE-B76B-4DB6-BDAD-D0444C87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elevación · pendiente · rugosidad</a:t>
            </a:r>
          </a:p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(media y desviación)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1CD5D5-A2F4-4F54-9720-C384802A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14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9D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9D38"/>
                </a:solidFill>
                <a:latin typeface="Aptos"/>
                <a:ea typeface="Aptos"/>
                <a:cs typeface="Aptos"/>
              </a:rPr>
              <a:t>9 de orientación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E34F06-0ACA-4D9B-B106-BDF4E033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8 franjas de 45° + sin datos</a:t>
            </a:r>
          </a:p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(proporción de área)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A6A125-D334-4E46-90EC-B31803F5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Además, la rugosidad se calcula como la desviación local de elevación en una ventana 3×3.</a:t>
            </a:r>
          </a:p>
        </p:txBody>
      </p:sp>
    </p:spTree>
    <p:extLst>
      <p:ext uri="{BB962C8B-B14F-4D97-AF65-F5344CB8AC3E}">
        <p14:creationId xmlns:p14="http://schemas.microsoft.com/office/powerpoint/2010/main" val="784218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DF787-8018-4A16-B439-610A3B25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PRIMERA VERIFICACIÓN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0343-C1F4-4D12-AE0D-DDC36168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Prueba topográfica: estructura verificada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52450" y="1257300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0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4F69C-3786-48BA-8607-B4B2EE8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2677D"/>
                </a:solidFill>
                <a:latin typeface="Aptos"/>
                <a:ea typeface="Aptos"/>
                <a:cs typeface="Aptos"/>
              </a:rPr>
              <a:t>TFM · Predicción de incendios forestales ·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0581B-C520-4C98-8A02-13F61710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575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D109A-646D-47D0-9CF0-E13B02B6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67C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867C0"/>
                </a:solidFill>
                <a:latin typeface="Aptos"/>
                <a:ea typeface="Aptos"/>
                <a:cs typeface="Aptos"/>
              </a:rPr>
              <a:t>225 × 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A6240-12D8-426D-8AB3-0B182ED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670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dimensiones x/y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del cubo de prueba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B689F-E93A-4B46-88CC-C173D33F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2575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8E0F1-01C2-40A2-A1C1-7B8F125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81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A269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6A26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CCF69-6B15-408A-B6B0-8D386F3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670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variables topográficas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por celda activa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BEDAB-BD02-4946-ADF9-2F0ECE95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2575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4F84C-3D69-47E2-BBE2-B64BB590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29D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29D38"/>
                </a:solidFill>
                <a:latin typeface="Aptos"/>
                <a:ea typeface="Aptos"/>
                <a:cs typeface="Aptos"/>
              </a:rPr>
              <a:t>1,8 × 10⁻⁷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0AC4-42CA-4108-AF7F-67CF1EC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670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error máximo de cierre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 las orientaciones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FA203-269E-421D-A04C-AA7E3E0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Siguiente tramo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0B5A9-7F70-4964-B0D5-CFDE5123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269"/>
          </a:solidFill>
          <a:ln xmlns:a="http://schemas.openxmlformats.org/drawingml/2006/main" w="6668">
            <a:solidFill>
              <a:srgbClr val="26A2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508-10BA-408C-914D-FA8AC4C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101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Incorporar CORINE sobre la misma rejilla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94AA9-296D-4A94-8DD8-0E3B5CB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9"/>
          </a:solidFill>
          <a:ln xmlns:a="http://schemas.openxmlformats.org/drawingml/2006/main" w="6668">
            <a:solidFill>
              <a:srgbClr val="12A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E1CE0-AF16-40ED-9267-4700FE9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Añadir dimensiones temporales: clima e incendios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2CB41-1433-4441-BB47-550C214B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7C0"/>
          </a:solidFill>
          <a:ln xmlns:a="http://schemas.openxmlformats.org/drawingml/2006/main" w="6668">
            <a:solidFill>
              <a:srgbClr val="1867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750BF-70C4-4491-BEB0-EDD31F81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292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Construir el dataset maestro sin data leakage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B436C-A256-4A5E-89E0-D673199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2609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3EA2C-6DE1-4E57-8974-8F43E46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720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D5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3D5E7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375F5-67C5-4055-A896-72B4139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base espacial reproducible para el modelo de riesgo.</a:t>
            </a:r>
          </a:p>
        </p:txBody>
      </p:sp>
    </p:spTree>
    <p:extLst>
      <p:ext uri="{BB962C8B-B14F-4D97-AF65-F5344CB8AC3E}">
        <p14:creationId xmlns:p14="http://schemas.microsoft.com/office/powerpoint/2010/main" val="1354707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2026-08-21T17:09:04.3060000Z</dcterms:created>
  <dcterms:modified xsi:type="dcterms:W3CDTF">2026-08-21T17:09:04.3060000Z</dcterms:modified>
</coreProperties>
</file>